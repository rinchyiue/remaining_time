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66" r:id="rId6"/>
    <p:sldId id="259" r:id="rId7"/>
    <p:sldId id="271" r:id="rId8"/>
    <p:sldId id="260" r:id="rId9"/>
    <p:sldId id="261" r:id="rId10"/>
    <p:sldId id="268" r:id="rId11"/>
    <p:sldId id="269" r:id="rId12"/>
    <p:sldId id="270" r:id="rId13"/>
    <p:sldId id="264" r:id="rId14"/>
    <p:sldId id="267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8B9B8-79ED-48E3-BD5A-622FC0956A4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9726E-00A8-4931-B6D0-C7D177758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84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9726E-00A8-4931-B6D0-C7D1777586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80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9726E-00A8-4931-B6D0-C7D1777586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81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1983-F08A-3B63-2FDC-6DF292F8B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08C5A-5F79-8EFE-F2D7-053563B56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B8686-D2CC-75EF-CD71-95701E41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429A-A413-25CC-14E4-8797A122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7C5A7-24F9-EF48-033D-19781352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4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B64C-6893-74BD-9474-FF00ECAB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6C80E-D816-3503-31E9-238C8A883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96B0C-F93A-4E89-DFD3-65B44B6D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3FF49-17C6-A359-6660-065A6261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6481-2003-B40F-2976-1F2929BD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1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A8A3-0291-5002-F7AD-9220AB71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8E604-C802-3848-D4BF-0158D6F79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10B62-56B7-D6BC-E6B5-CF572354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22EA-4785-F02C-4682-EB5CA555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725AE-9368-4027-A1D9-B72724FD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8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267F-3CD7-05BC-A7F0-81DA9661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FFCD9-4897-2CCC-DAF0-5F51F7501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45C9E-4E91-2AA3-B4C4-2B2479E35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C4419-8067-92EC-CA57-E34BB8F02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59859-E614-7390-612A-54183075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B4F85-307F-B09A-C97F-9B7F15E1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5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75DB-94FD-1A39-C967-4AC52C93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4D3CF-D740-A1A4-2B6A-F9EAD2BA3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B8829-07E5-2BDC-0713-9494CA1AA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27AA4E-52DD-201B-E468-B10B26F7C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DA48D-E62F-7652-B2B5-9E2328E98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A9725-5FB6-23EA-FCF1-E9338976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E5DAA-05AF-232B-57C9-7A12A0DD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005F5-E9C5-E919-0A06-0CE0DC2B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5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8127-7486-C4D4-0A15-A8DF3AD0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5AC5E-2AA4-7861-CF7B-4442C535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5B8F3-001F-E5C4-AF81-4A2973E3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C8A34-28E9-22D4-D07A-272F0D74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0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5A39F-9104-0855-26E6-29B8D2B0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884B2-5F8F-6001-5164-47C66A48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277AC-722B-B0A8-881C-6A353E78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CFDC-FA2B-E970-009B-E51BD224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342F-C582-6823-D29C-D1B4ABF1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156B7-06E8-AB77-F08F-8EF2CFFFA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B4C49-9445-1086-9A47-2395EA30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C1D11-5DD6-2F0A-AE15-08109CEA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85DDE-358A-7B14-587D-44F1383F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9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AAF9-52A9-28F9-6259-9D950A0A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5E16E-DDAA-0013-E2AA-09DEA1B65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0A1E8-6B8D-7504-D910-30AAFC5A8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2E2D1-9EFD-B63B-25AB-67125D5F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3B804-2A72-21A3-3DB8-82CCCE81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9DC04-CF23-B251-FFC5-D77F897F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37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DEB22-BC07-CA3C-1862-03770FB6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ACF27-EF86-118B-7FFA-8C087905C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D05B0-E70C-DABB-2C63-48C5486B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09A9-EFC1-74D7-B35B-A52AA89D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068D0-40B9-EA11-CCAB-C543BE534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2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359D0-A2C1-1569-4B82-95B03107D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08457-1B6C-64A6-7B4B-E8D4E87C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4F5A8-929A-2E28-02C4-33FDD1EB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50BCD-D63E-9B28-8F0E-4B216911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9B60-3E44-E5E5-D480-A876FBEC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59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B1802-C7E9-0554-80F3-78FA81D1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2AF30-440F-D0CC-FD22-77492932C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A7DB-FD0D-3AF9-5318-B73EEA901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78C2-1BD0-4EB9-8196-8B08431AC5F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059F2-A843-87B9-FF4F-C433BA1A2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AA3D8-A7B2-B31A-65BF-614BE3E71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34503-508E-468B-9143-594B9D4E2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1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1A31-A9E0-C016-B5CD-A8FB13585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Theory behind v.0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46ABA-F292-208D-9F8F-60D2F60C1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Qifan Wu</a:t>
            </a:r>
          </a:p>
          <a:p>
            <a:r>
              <a:rPr lang="en-US" dirty="0"/>
              <a:t>Derived from [1],[2],[3]&amp;[4]</a:t>
            </a:r>
          </a:p>
          <a:p>
            <a:r>
              <a:rPr lang="en-US" dirty="0"/>
              <a:t>26.04.2026</a:t>
            </a:r>
          </a:p>
        </p:txBody>
      </p:sp>
    </p:spTree>
    <p:extLst>
      <p:ext uri="{BB962C8B-B14F-4D97-AF65-F5344CB8AC3E}">
        <p14:creationId xmlns:p14="http://schemas.microsoft.com/office/powerpoint/2010/main" val="296370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DF1D-AFDF-6FB0-1B43-A8BCEFED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Req. I/O according to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B9AF-8E83-6CF5-001B-D5E536B61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Feature: a regression problem</a:t>
            </a:r>
          </a:p>
          <a:p>
            <a:pPr marL="0" indent="0">
              <a:buNone/>
            </a:pPr>
            <a:r>
              <a:rPr lang="en-US" dirty="0"/>
              <a:t>-&gt; Regression to be decided while implementing (not linear, gradient descend better)</a:t>
            </a:r>
          </a:p>
          <a:p>
            <a:r>
              <a:rPr lang="en-US" dirty="0"/>
              <a:t>Input: </a:t>
            </a:r>
          </a:p>
          <a:p>
            <a:pPr lvl="1"/>
            <a:r>
              <a:rPr lang="en-US" dirty="0"/>
              <a:t>features derived from the prefix of a case </a:t>
            </a:r>
          </a:p>
          <a:p>
            <a:pPr lvl="2"/>
            <a:r>
              <a:rPr lang="en-US" dirty="0"/>
              <a:t>activities done so far</a:t>
            </a:r>
          </a:p>
          <a:p>
            <a:pPr lvl="2"/>
            <a:r>
              <a:rPr lang="en-US" dirty="0"/>
              <a:t>Timestamps</a:t>
            </a:r>
          </a:p>
          <a:p>
            <a:pPr lvl="2"/>
            <a:r>
              <a:rPr lang="en-US" dirty="0"/>
              <a:t>Attributes</a:t>
            </a:r>
          </a:p>
          <a:p>
            <a:r>
              <a:rPr lang="en-US" dirty="0"/>
              <a:t>Output: a numeric value (i.e. remaining CT)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289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72C5-88DC-00AD-3616-98012F1E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6B8DD-C7F4-8158-D0D0-37956D1FA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Attribute to select</a:t>
            </a:r>
          </a:p>
          <a:p>
            <a:r>
              <a:rPr lang="en-US" dirty="0"/>
              <a:t>A uniform unit used to present / measure</a:t>
            </a:r>
          </a:p>
          <a:p>
            <a:r>
              <a:rPr lang="en-US" dirty="0"/>
              <a:t>Basic idea for prediction</a:t>
            </a:r>
          </a:p>
        </p:txBody>
      </p:sp>
    </p:spTree>
    <p:extLst>
      <p:ext uri="{BB962C8B-B14F-4D97-AF65-F5344CB8AC3E}">
        <p14:creationId xmlns:p14="http://schemas.microsoft.com/office/powerpoint/2010/main" val="230781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7733-1747-75B3-CE44-0649A07A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points in basic definition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3075C-CAE5-8EEE-017A-00584C8EF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logs only contain </a:t>
            </a:r>
            <a:r>
              <a:rPr lang="en-US" b="1" u="sng" dirty="0"/>
              <a:t>completed</a:t>
            </a:r>
            <a:r>
              <a:rPr lang="en-US" dirty="0"/>
              <a:t> traces </a:t>
            </a:r>
          </a:p>
          <a:p>
            <a:pPr lvl="1"/>
            <a:r>
              <a:rPr lang="en-US" dirty="0"/>
              <a:t>Full trace</a:t>
            </a:r>
          </a:p>
          <a:p>
            <a:pPr lvl="1"/>
            <a:r>
              <a:rPr lang="en-US" dirty="0"/>
              <a:t>History</a:t>
            </a:r>
          </a:p>
          <a:p>
            <a:r>
              <a:rPr lang="en-US" dirty="0"/>
              <a:t>Prefix function:</a:t>
            </a:r>
          </a:p>
          <a:p>
            <a:pPr marL="0" indent="0">
              <a:buNone/>
            </a:pPr>
            <a:r>
              <a:rPr lang="en-US" sz="2400" dirty="0"/>
              <a:t>	Given a trace </a:t>
            </a:r>
            <a:r>
              <a:rPr lang="el-GR" sz="2400" dirty="0"/>
              <a:t>σ=⟨</a:t>
            </a:r>
            <a:r>
              <a:rPr lang="en-US" sz="2400" dirty="0"/>
              <a:t>e1,...,</a:t>
            </a:r>
            <a:r>
              <a:rPr lang="en-US" sz="2400" dirty="0" err="1"/>
              <a:t>en</a:t>
            </a:r>
            <a:r>
              <a:rPr lang="en-US" sz="2400" dirty="0"/>
              <a:t>⟩ and a positive integer </a:t>
            </a:r>
            <a:r>
              <a:rPr lang="en-US" sz="2400" dirty="0" err="1"/>
              <a:t>k≤n</a:t>
            </a:r>
            <a:r>
              <a:rPr lang="en-US" sz="2400" dirty="0"/>
              <a:t>, </a:t>
            </a:r>
            <a:r>
              <a:rPr lang="en-US" sz="2400" dirty="0" err="1"/>
              <a:t>hd</a:t>
            </a:r>
            <a:r>
              <a:rPr lang="en-US" sz="2400" baseline="30000" dirty="0" err="1"/>
              <a:t>k</a:t>
            </a:r>
            <a:r>
              <a:rPr lang="en-US" sz="2400" dirty="0"/>
              <a:t>(</a:t>
            </a:r>
            <a:r>
              <a:rPr lang="el-GR" sz="2400" dirty="0"/>
              <a:t>σ)=⟨</a:t>
            </a:r>
            <a:r>
              <a:rPr lang="en-US" sz="2400" dirty="0"/>
              <a:t>e1,...,ek⟩.</a:t>
            </a:r>
          </a:p>
          <a:p>
            <a:r>
              <a:rPr lang="en-US" dirty="0"/>
              <a:t>Prefix log: </a:t>
            </a:r>
          </a:p>
          <a:p>
            <a:pPr marL="0" indent="0">
              <a:buNone/>
            </a:pPr>
            <a:r>
              <a:rPr lang="en-US" dirty="0"/>
              <a:t>	Given an event log L, its prefix </a:t>
            </a:r>
            <a:r>
              <a:rPr lang="en-US" dirty="0" err="1"/>
              <a:t>logL</a:t>
            </a:r>
            <a:r>
              <a:rPr lang="en-US" baseline="30000" dirty="0"/>
              <a:t>∗</a:t>
            </a:r>
            <a:r>
              <a:rPr lang="en-US" dirty="0"/>
              <a:t> is the event log that contains all prefixes of L, </a:t>
            </a:r>
            <a:r>
              <a:rPr lang="en-US" dirty="0" err="1"/>
              <a:t>i.e.,L</a:t>
            </a:r>
            <a:r>
              <a:rPr lang="en-US" baseline="30000" dirty="0"/>
              <a:t>∗</a:t>
            </a:r>
            <a:r>
              <a:rPr lang="en-US" dirty="0"/>
              <a:t>={</a:t>
            </a:r>
            <a:r>
              <a:rPr lang="en-US" dirty="0" err="1"/>
              <a:t>hd</a:t>
            </a:r>
            <a:r>
              <a:rPr lang="en-US" baseline="30000" dirty="0" err="1"/>
              <a:t>k</a:t>
            </a:r>
            <a:r>
              <a:rPr lang="en-US" dirty="0"/>
              <a:t>(</a:t>
            </a:r>
            <a:r>
              <a:rPr lang="el-GR" dirty="0"/>
              <a:t>σ) :σ∈</a:t>
            </a:r>
            <a:r>
              <a:rPr lang="en-US" dirty="0"/>
              <a:t>L,1≤k≤|</a:t>
            </a:r>
            <a:r>
              <a:rPr lang="el-GR" dirty="0"/>
              <a:t>σ|}.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08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1EAF-EBD1-F71A-A85D-1946319D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points in basic definition 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665579-89C9-4AC7-AAEF-D5007174F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9654" y="1972524"/>
            <a:ext cx="7251009" cy="332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23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82EE-20FE-69F5-7831-85EC565B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to select (on event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0DC0-F6C0-5032-C3FF-57D3E46F3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37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Mandatory (PM standard)</a:t>
            </a:r>
          </a:p>
          <a:p>
            <a:pPr lvl="1"/>
            <a:r>
              <a:rPr lang="en-US" dirty="0"/>
              <a:t>Case identifier</a:t>
            </a:r>
          </a:p>
          <a:p>
            <a:pPr lvl="1"/>
            <a:r>
              <a:rPr lang="en-US" dirty="0"/>
              <a:t>Activity name</a:t>
            </a:r>
          </a:p>
          <a:p>
            <a:pPr lvl="1"/>
            <a:r>
              <a:rPr lang="en-US" dirty="0"/>
              <a:t>Timestamp</a:t>
            </a:r>
          </a:p>
          <a:p>
            <a:r>
              <a:rPr lang="en-US" dirty="0"/>
              <a:t>Two types: numeric &amp; categorical</a:t>
            </a:r>
          </a:p>
          <a:p>
            <a:r>
              <a:rPr lang="en-US" dirty="0"/>
              <a:t>More contextual attributes:</a:t>
            </a:r>
          </a:p>
          <a:p>
            <a:pPr lvl="1"/>
            <a:r>
              <a:rPr lang="en-US" dirty="0"/>
              <a:t>Resource (who’s responsible, e.g. </a:t>
            </a:r>
            <a:r>
              <a:rPr lang="en-US" dirty="0" err="1"/>
              <a:t>org:role</a:t>
            </a:r>
            <a:r>
              <a:rPr lang="en-US" dirty="0"/>
              <a:t>, </a:t>
            </a:r>
            <a:r>
              <a:rPr lang="en-US" dirty="0" err="1"/>
              <a:t>org:group</a:t>
            </a:r>
            <a:r>
              <a:rPr lang="en-US" dirty="0"/>
              <a:t>, </a:t>
            </a:r>
            <a:r>
              <a:rPr lang="en-US" dirty="0" err="1"/>
              <a:t>org:resource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	-&gt; to detect inter-dependency &amp; resource availability</a:t>
            </a:r>
          </a:p>
          <a:p>
            <a:pPr lvl="1"/>
            <a:r>
              <a:rPr lang="en-US" dirty="0" err="1"/>
              <a:t>lifecycle:transition</a:t>
            </a:r>
            <a:r>
              <a:rPr lang="en-US" dirty="0"/>
              <a:t> (can be involved to imply queueing state)</a:t>
            </a:r>
          </a:p>
          <a:p>
            <a:pPr lvl="1"/>
            <a:r>
              <a:rPr lang="en-US" dirty="0"/>
              <a:t>Queues (e.g. how long is the queue now)	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09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BB15-8D56-5B6F-CC09-80DF5812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to be derived (on event 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42A1-EFA8-7F35-87C1-24C78AFF7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 := Event		A := Activity</a:t>
            </a:r>
          </a:p>
          <a:p>
            <a:r>
              <a:rPr lang="en-US" dirty="0" err="1"/>
              <a:t>time:duration</a:t>
            </a:r>
            <a:r>
              <a:rPr lang="en-US" dirty="0"/>
              <a:t>(Ex)</a:t>
            </a:r>
          </a:p>
          <a:p>
            <a:pPr lvl="1"/>
            <a:r>
              <a:rPr lang="en-US" dirty="0" err="1"/>
              <a:t>time:exiting_time</a:t>
            </a:r>
            <a:r>
              <a:rPr lang="en-US" dirty="0"/>
              <a:t>(Ex) - </a:t>
            </a:r>
            <a:r>
              <a:rPr lang="en-US" dirty="0" err="1"/>
              <a:t>time:entering_time</a:t>
            </a:r>
            <a:r>
              <a:rPr lang="en-US" dirty="0"/>
              <a:t>(Ex)</a:t>
            </a:r>
          </a:p>
          <a:p>
            <a:r>
              <a:rPr lang="en-US" dirty="0" err="1"/>
              <a:t>time:waiting_time</a:t>
            </a:r>
            <a:r>
              <a:rPr lang="en-US" dirty="0"/>
              <a:t>(Ex,Ex+1)</a:t>
            </a:r>
          </a:p>
          <a:p>
            <a:pPr lvl="1"/>
            <a:r>
              <a:rPr lang="en-US" dirty="0" err="1"/>
              <a:t>time:entering_time</a:t>
            </a:r>
            <a:r>
              <a:rPr lang="en-US" dirty="0"/>
              <a:t>(Ex+1) - </a:t>
            </a:r>
            <a:r>
              <a:rPr lang="en-US" dirty="0" err="1"/>
              <a:t>time:exiting_time</a:t>
            </a:r>
            <a:r>
              <a:rPr lang="en-US" dirty="0"/>
              <a:t>(Ex)</a:t>
            </a:r>
          </a:p>
          <a:p>
            <a:r>
              <a:rPr lang="en-US" dirty="0" err="1"/>
              <a:t>int:queue_length</a:t>
            </a:r>
            <a:r>
              <a:rPr lang="en-US" dirty="0"/>
              <a:t>(</a:t>
            </a:r>
            <a:r>
              <a:rPr lang="en-US" dirty="0" err="1"/>
              <a:t>Ax,t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|tokens with state waiting at activity Ax at time t|</a:t>
            </a:r>
          </a:p>
          <a:p>
            <a:r>
              <a:rPr lang="en-US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559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87FB-31D5-D76A-957D-105040C10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DB93E-B54D-FAA0-6E16-7CF3EA814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Hours/minutes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Reason</a:t>
            </a:r>
          </a:p>
          <a:p>
            <a:pPr lvl="1"/>
            <a:r>
              <a:rPr lang="en-US" dirty="0"/>
              <a:t>According to the timestamp in training set:</a:t>
            </a:r>
          </a:p>
          <a:p>
            <a:pPr lvl="2"/>
            <a:r>
              <a:rPr lang="en-US" dirty="0"/>
              <a:t>Accuracy to minute-level</a:t>
            </a:r>
          </a:p>
          <a:p>
            <a:pPr lvl="2"/>
            <a:r>
              <a:rPr lang="en-US" dirty="0"/>
              <a:t>Duration between activities can be days, also can be minutes</a:t>
            </a:r>
          </a:p>
          <a:p>
            <a:pPr lvl="2"/>
            <a:r>
              <a:rPr lang="en-US" dirty="0"/>
              <a:t>To avoid overfitting &amp; underfitting -&gt; choose hour, but minute can also be great, further discussion needed</a:t>
            </a:r>
          </a:p>
        </p:txBody>
      </p:sp>
    </p:spTree>
    <p:extLst>
      <p:ext uri="{BB962C8B-B14F-4D97-AF65-F5344CB8AC3E}">
        <p14:creationId xmlns:p14="http://schemas.microsoft.com/office/powerpoint/2010/main" val="183063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5606-D1A1-E21D-E29C-0A9B7AA7B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idea for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71F42-DE91-7A17-722A-748FA8E9D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E4E61-06F9-D56C-21B9-47366CA9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717" y="1497278"/>
            <a:ext cx="6383286" cy="473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31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BCDE-7DC3-CCD6-02BA-1471231F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option: </a:t>
            </a:r>
            <a:r>
              <a:rPr lang="en-US" dirty="0" err="1"/>
              <a:t>XGBoost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F3E59-AC4A-2721-042F-EDAE5C8CB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Generally:</a:t>
            </a:r>
          </a:p>
          <a:p>
            <a:pPr lvl="1"/>
            <a:r>
              <a:rPr lang="en-US" dirty="0"/>
              <a:t>Weighed avg. derived from several ‘weak’ decision tree learners</a:t>
            </a:r>
          </a:p>
          <a:p>
            <a:pPr lvl="1"/>
            <a:r>
              <a:rPr lang="en-US" dirty="0"/>
              <a:t>Kinda ‘forest-like’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more info, cf. [2]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64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5F84-3EC6-748B-EAE9-FEDE18BF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evaluation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0E37A-ECAC-A19D-E46B-DDBACB6E4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Accuracy:</a:t>
            </a:r>
          </a:p>
          <a:p>
            <a:pPr lvl="1"/>
            <a:r>
              <a:rPr lang="en-US" dirty="0"/>
              <a:t>Cf. [2], Mean Avg. Error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Root Mean Square Error</a:t>
            </a:r>
          </a:p>
          <a:p>
            <a:pPr lvl="1"/>
            <a:r>
              <a:rPr lang="en-US" dirty="0"/>
              <a:t>Mean Percentage Error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[2]used the first one, however, the choice should be made depending on our target event logs and defined success metrics in milestone 1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4C0A69-F396-33B3-5B6A-46F4827D6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38" y="2933674"/>
            <a:ext cx="2387723" cy="99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12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52D6-8EFD-8CA5-F7DF-56DEFD5E7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evaluation metrics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EC45-B308-1EF2-C366-BA3A0E638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Earliness (cf. [2])</a:t>
            </a:r>
          </a:p>
          <a:p>
            <a:endParaRPr lang="en-US" dirty="0"/>
          </a:p>
          <a:p>
            <a:r>
              <a:rPr lang="en-US" dirty="0"/>
              <a:t>What we may also consider [4]:</a:t>
            </a:r>
          </a:p>
          <a:p>
            <a:pPr lvl="1"/>
            <a:r>
              <a:rPr lang="en-US" dirty="0"/>
              <a:t>For classification: </a:t>
            </a:r>
          </a:p>
          <a:p>
            <a:pPr lvl="2"/>
            <a:r>
              <a:rPr lang="en-US" dirty="0"/>
              <a:t>Brier Score loss</a:t>
            </a:r>
          </a:p>
          <a:p>
            <a:pPr lvl="2"/>
            <a:r>
              <a:rPr lang="en-US" dirty="0"/>
              <a:t>Entropy/information gain (for single decision tree)</a:t>
            </a:r>
          </a:p>
          <a:p>
            <a:pPr lvl="2"/>
            <a:r>
              <a:rPr lang="en-US" dirty="0"/>
              <a:t>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202923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D6EB-F589-2648-AC0E-B5D9CF27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F2FF-327E-D928-8650-E31C89D1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data quality problems to confront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46718-33B4-53A7-7B0C-74D4462AE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data </a:t>
            </a:r>
          </a:p>
          <a:p>
            <a:r>
              <a:rPr lang="en-US" dirty="0"/>
              <a:t>Incorrect data  </a:t>
            </a:r>
          </a:p>
          <a:p>
            <a:r>
              <a:rPr lang="en-US" dirty="0"/>
              <a:t>Imprecise data  (Training data not met)</a:t>
            </a:r>
          </a:p>
          <a:p>
            <a:r>
              <a:rPr lang="en-US" dirty="0"/>
              <a:t>Irrelevant data  -&gt; filter data (mainly attributes)</a:t>
            </a:r>
          </a:p>
        </p:txBody>
      </p:sp>
    </p:spTree>
    <p:extLst>
      <p:ext uri="{BB962C8B-B14F-4D97-AF65-F5344CB8AC3E}">
        <p14:creationId xmlns:p14="http://schemas.microsoft.com/office/powerpoint/2010/main" val="585133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51A8-A752-0CDE-8B85-54ED3C9C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F4AA-94B2-7263-D9CF-AAC9F47FB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to predict rare cases</a:t>
            </a:r>
          </a:p>
          <a:p>
            <a:endParaRPr lang="en-US" dirty="0"/>
          </a:p>
          <a:p>
            <a:r>
              <a:rPr lang="en-US" dirty="0"/>
              <a:t>The prediction should be ‘real-time’, i.e. it should be updated periodically/according to request from user</a:t>
            </a:r>
          </a:p>
          <a:p>
            <a:pPr lvl="1"/>
            <a:r>
              <a:rPr lang="en-US" dirty="0"/>
              <a:t>Reason: The accuracy of prediction increases as the token approaches the sink of the process</a:t>
            </a:r>
          </a:p>
        </p:txBody>
      </p:sp>
    </p:spTree>
    <p:extLst>
      <p:ext uri="{BB962C8B-B14F-4D97-AF65-F5344CB8AC3E}">
        <p14:creationId xmlns:p14="http://schemas.microsoft.com/office/powerpoint/2010/main" val="246548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7836-D88E-79CD-3772-FE4B5D1F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6B2D3-FA0D-5734-51B0-179ABA5F0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[1] Wil M.P. van der Aalst. Process Mining: Data Science in Action. 2nd edition, Springer, 2016.</a:t>
            </a:r>
          </a:p>
          <a:p>
            <a:r>
              <a:rPr lang="en-US" sz="2400" dirty="0"/>
              <a:t>[2] Ilya Verenich, Marlon Dumas, Marcello La Rosa, Fabrizio Maria Maggi, and Irina Teinemaa. “Survey and cross-benchmark comparison of remaining time prediction methods in business process monitoring”. ACM Transactions on Intelligent Systems and Technology (TIST), 10(4), 2019.</a:t>
            </a:r>
          </a:p>
          <a:p>
            <a:r>
              <a:rPr lang="en-US" sz="2400" dirty="0"/>
              <a:t>[3]Assignment paper</a:t>
            </a:r>
          </a:p>
          <a:p>
            <a:r>
              <a:rPr lang="en-US" sz="2400" dirty="0"/>
              <a:t>[4] https://scikit-learn.org/stable/modules/model_evaluation.html#brier-score-loss</a:t>
            </a:r>
          </a:p>
        </p:txBody>
      </p:sp>
    </p:spTree>
    <p:extLst>
      <p:ext uri="{BB962C8B-B14F-4D97-AF65-F5344CB8AC3E}">
        <p14:creationId xmlns:p14="http://schemas.microsoft.com/office/powerpoint/2010/main" val="361630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720</Words>
  <Application>Microsoft Office PowerPoint</Application>
  <PresentationFormat>Widescreen</PresentationFormat>
  <Paragraphs>98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Theory behind v.0</vt:lpstr>
      <vt:lpstr>Req. I/O according to assignment</vt:lpstr>
      <vt:lpstr>Key points:</vt:lpstr>
      <vt:lpstr>Critical points in basic definition </vt:lpstr>
      <vt:lpstr>Critical points in basic definition  (cont.)</vt:lpstr>
      <vt:lpstr>Attribute to select (on event level)</vt:lpstr>
      <vt:lpstr>Attributes to be derived (on event level)</vt:lpstr>
      <vt:lpstr>Unit used</vt:lpstr>
      <vt:lpstr>Basic idea for prediction</vt:lpstr>
      <vt:lpstr>One option: XGBoost </vt:lpstr>
      <vt:lpstr>Options for evaluation metrics </vt:lpstr>
      <vt:lpstr>Options for evaluation metrics (cont.)</vt:lpstr>
      <vt:lpstr>Typical data quality problems to confront</vt:lpstr>
      <vt:lpstr>Other Issues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Qifan Wu</dc:creator>
  <cp:lastModifiedBy>Qifan Wu</cp:lastModifiedBy>
  <cp:revision>18</cp:revision>
  <dcterms:created xsi:type="dcterms:W3CDTF">2026-04-26T15:32:23Z</dcterms:created>
  <dcterms:modified xsi:type="dcterms:W3CDTF">2026-04-26T18:23:47Z</dcterms:modified>
</cp:coreProperties>
</file>